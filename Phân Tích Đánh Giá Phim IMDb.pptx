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2C3E50"/>
                </a:solidFill>
                <a:latin typeface="Arial"/>
              </a:rPr>
              <a:t>Top 10 thể loại phim phổ biến nhất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 phim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Drama</c:v>
                  </c:pt>
                  <c:pt idx="1">
                    <c:v>Adventure</c:v>
                  </c:pt>
                  <c:pt idx="2">
                    <c:v>Action</c:v>
                  </c:pt>
                  <c:pt idx="3">
                    <c:v>Comedy</c:v>
                  </c:pt>
                  <c:pt idx="4">
                    <c:v>Thriller</c:v>
                  </c:pt>
                  <c:pt idx="5">
                    <c:v>Crime</c:v>
                  </c:pt>
                  <c:pt idx="6">
                    <c:v>Sci-Fi</c:v>
                  </c:pt>
                  <c:pt idx="7">
                    <c:v>Mystery</c:v>
                  </c:pt>
                  <c:pt idx="8">
                    <c:v>Fantasy</c:v>
                  </c:pt>
                  <c:pt idx="9">
                    <c:v>Romance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693</c:v>
                </c:pt>
                <c:pt idx="1">
                  <c:v>385</c:v>
                </c:pt>
                <c:pt idx="2">
                  <c:v>384</c:v>
                </c:pt>
                <c:pt idx="3">
                  <c:v>373</c:v>
                </c:pt>
                <c:pt idx="4">
                  <c:v>250</c:v>
                </c:pt>
                <c:pt idx="5">
                  <c:v>208</c:v>
                </c:pt>
                <c:pt idx="6">
                  <c:v>203</c:v>
                </c:pt>
                <c:pt idx="7">
                  <c:v>200</c:v>
                </c:pt>
                <c:pt idx="8">
                  <c:v>173</c:v>
                </c:pt>
                <c:pt idx="9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3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2C3E50"/>
                </a:solidFill>
                <a:latin typeface="Arial"/>
              </a:rPr>
              <a:t>Điểm đánh giá trung bình theo thể loại (Top 10)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 TB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Crime</c:v>
                  </c:pt>
                  <c:pt idx="1">
                    <c:v>Biography</c:v>
                  </c:pt>
                  <c:pt idx="2">
                    <c:v>Drama</c:v>
                  </c:pt>
                  <c:pt idx="3">
                    <c:v>Sport</c:v>
                  </c:pt>
                  <c:pt idx="4">
                    <c:v>Mystery</c:v>
                  </c:pt>
                  <c:pt idx="5">
                    <c:v>Adventure</c:v>
                  </c:pt>
                  <c:pt idx="6">
                    <c:v>Thriller</c:v>
                  </c:pt>
                  <c:pt idx="7">
                    <c:v>Action</c:v>
                  </c:pt>
                  <c:pt idx="8">
                    <c:v>Horror</c:v>
                  </c:pt>
                  <c:pt idx="9">
                    <c:v>Music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7.77</c:v>
                </c:pt>
                <c:pt idx="1">
                  <c:v>7.69</c:v>
                </c:pt>
                <c:pt idx="2">
                  <c:v>7.66</c:v>
                </c:pt>
                <c:pt idx="3">
                  <c:v>7.64</c:v>
                </c:pt>
                <c:pt idx="4">
                  <c:v>7.52</c:v>
                </c:pt>
                <c:pt idx="5">
                  <c:v>7.42</c:v>
                </c:pt>
                <c:pt idx="6">
                  <c:v>7.37</c:v>
                </c:pt>
                <c:pt idx="7">
                  <c:v>7.28</c:v>
                </c:pt>
                <c:pt idx="8">
                  <c:v>7.06</c:v>
                </c:pt>
                <c:pt idx="9">
                  <c:v>7.06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3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6.5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2C3E50"/>
                </a:solidFill>
                <a:latin typeface="Arial"/>
              </a:rPr>
              <a:t>Top 10 năm có nhiều phim nhất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 phim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2013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2012</c:v>
                  </c:pt>
                  <c:pt idx="4">
                    <c:v>2016</c:v>
                  </c:pt>
                  <c:pt idx="5">
                    <c:v>2011</c:v>
                  </c:pt>
                  <c:pt idx="6">
                    <c:v>2008</c:v>
                  </c:pt>
                  <c:pt idx="7">
                    <c:v>2015</c:v>
                  </c:pt>
                  <c:pt idx="8">
                    <c:v>2004</c:v>
                  </c:pt>
                  <c:pt idx="9">
                    <c:v>2014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</c:v>
                </c:pt>
                <c:pt idx="1">
                  <c:v>68</c:v>
                </c:pt>
                <c:pt idx="2">
                  <c:v>66</c:v>
                </c:pt>
                <c:pt idx="3">
                  <c:v>64</c:v>
                </c:pt>
                <c:pt idx="4">
                  <c:v>63</c:v>
                </c:pt>
                <c:pt idx="5">
                  <c:v>62</c:v>
                </c:pt>
                <c:pt idx="6">
                  <c:v>61</c:v>
                </c:pt>
                <c:pt idx="7">
                  <c:v>60</c:v>
                </c:pt>
                <c:pt idx="8">
                  <c:v>58</c:v>
                </c:pt>
                <c:pt idx="9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2C3E50"/>
                </a:solidFill>
                <a:latin typeface="Arial"/>
              </a:rPr>
              <a:t>Mối quan hệ Rating vs log(Num Raters)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Các bộ phim</c:v>
                </c:pt>
              </c:strCache>
            </c:strRef>
          </c:tx>
          <c:spPr>
            <a:solidFill>
              <a:srgbClr val="1B4F7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5.5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f6-d5e7-9049-9f93a27a5453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8f6-d5e7-9049-9f93a27a5453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6.5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f6-d5e7-9049-9f93a27a5453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6.8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8f6-d5e7-9049-9f93a27a5453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8f6-d5e7-9049-9f93a27a5453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7.2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8f6-d5e7-9049-9f93a27a5453}"/>
                </c:ext>
              </c:extLst>
            </c:dLbl>
            <c:dLbl>
              <c:idx val="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7.5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8f6-d5e7-9049-9f93a27a5453}"/>
                </c:ext>
              </c:extLst>
            </c:dLbl>
            <c:dLbl>
              <c:idx val="7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8f6-d5e7-9049-9f93a27a5453}"/>
                </c:ext>
              </c:extLst>
            </c:dLbl>
            <c:dLbl>
              <c:idx val="8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8f6-d5e7-9049-9f93a27a5453}"/>
                </c:ext>
              </c:extLst>
            </c:dLbl>
            <c:dLbl>
              <c:idx val="9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8.5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8f6-d5e7-9049-9f93a27a5453}"/>
                </c:ext>
              </c:extLst>
            </c:dLbl>
            <c:dLbl>
              <c:idx val="1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4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8f6-d5e7-9049-9f93a27a5453}"/>
                </c:ext>
              </c:extLst>
            </c:dLbl>
            <c:dLbl>
              <c:idx val="1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8f6-d5e7-9049-9f93a27a5453}"/>
                </c:ext>
              </c:extLst>
            </c:dLbl>
            <c:dLbl>
              <c:idx val="1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5.5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8f6-d5e7-9049-9f93a27a5453}"/>
                </c:ext>
              </c:extLst>
            </c:dLbl>
            <c:dLbl>
              <c:idx val="1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8f6-d5e7-9049-9f93a27a5453}"/>
                </c:ext>
              </c:extLst>
            </c:dLbl>
            <c:dLbl>
              <c:idx val="1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6.5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8f6-d5e7-9049-9f93a27a5453}"/>
                </c:ext>
              </c:extLst>
            </c:dLbl>
            <c:dLbl>
              <c:idx val="1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8.2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8f6-d5e7-9049-9f93a27a5453}"/>
                </c:ext>
              </c:extLst>
            </c:dLbl>
            <c:dLbl>
              <c:idx val="1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9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8f6-d5e7-9049-9f93a27a5453}"/>
                </c:ext>
              </c:extLst>
            </c:dLbl>
            <c:dLbl>
              <c:idx val="17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8f6-d5e7-9049-9f93a27a5453}"/>
                </c:ext>
              </c:extLst>
            </c:dLbl>
            <c:dLbl>
              <c:idx val="18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7.4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8f6-d5e7-9049-9f93a27a5453}"/>
                </c:ext>
              </c:extLst>
            </c:dLbl>
            <c:dLbl>
              <c:idx val="19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38f6-d5e7-9049-9f93a27a5453}"/>
                </c:ext>
              </c:extLst>
            </c:dLbl>
          </c:dLbls>
          <c:xVal>
            <c:numRef>
              <c:f>Sheet1!$A$2:$A$21</c:f>
              <c:numCache>
                <c:formatCode>General</c:formatCode>
                <c:ptCount val="20"/>
                <c:pt idx="0">
                  <c:v>10.5</c:v>
                </c:pt>
                <c:pt idx="1">
                  <c:v>11</c:v>
                </c:pt>
                <c:pt idx="2">
                  <c:v>11.5</c:v>
                </c:pt>
                <c:pt idx="3">
                  <c:v>12</c:v>
                </c:pt>
                <c:pt idx="4">
                  <c:v>12.5</c:v>
                </c:pt>
                <c:pt idx="5">
                  <c:v>13</c:v>
                </c:pt>
                <c:pt idx="6">
                  <c:v>13.5</c:v>
                </c:pt>
                <c:pt idx="7">
                  <c:v>14</c:v>
                </c:pt>
                <c:pt idx="8">
                  <c:v>14.5</c:v>
                </c:pt>
                <c:pt idx="9">
                  <c:v>15</c:v>
                </c:pt>
                <c:pt idx="10">
                  <c:v>10</c:v>
                </c:pt>
                <c:pt idx="11">
                  <c:v>10.8</c:v>
                </c:pt>
                <c:pt idx="12">
                  <c:v>11.2</c:v>
                </c:pt>
                <c:pt idx="13">
                  <c:v>12.8</c:v>
                </c:pt>
                <c:pt idx="14">
                  <c:v>13.2</c:v>
                </c:pt>
                <c:pt idx="15">
                  <c:v>14.2</c:v>
                </c:pt>
                <c:pt idx="16">
                  <c:v>15.2</c:v>
                </c:pt>
                <c:pt idx="17">
                  <c:v>11.8</c:v>
                </c:pt>
                <c:pt idx="18">
                  <c:v>12.2</c:v>
                </c:pt>
                <c:pt idx="19">
                  <c:v>13.8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5.5</c:v>
                </c:pt>
                <c:pt idx="1">
                  <c:v>6</c:v>
                </c:pt>
                <c:pt idx="2">
                  <c:v>6.5</c:v>
                </c:pt>
                <c:pt idx="3">
                  <c:v>6.8</c:v>
                </c:pt>
                <c:pt idx="4">
                  <c:v>7</c:v>
                </c:pt>
                <c:pt idx="5">
                  <c:v>7.2</c:v>
                </c:pt>
                <c:pt idx="6">
                  <c:v>7.5</c:v>
                </c:pt>
                <c:pt idx="7">
                  <c:v>7.8</c:v>
                </c:pt>
                <c:pt idx="8">
                  <c:v>8</c:v>
                </c:pt>
                <c:pt idx="9">
                  <c:v>8.5</c:v>
                </c:pt>
                <c:pt idx="10">
                  <c:v>4</c:v>
                </c:pt>
                <c:pt idx="11">
                  <c:v>8</c:v>
                </c:pt>
                <c:pt idx="12">
                  <c:v>5.5</c:v>
                </c:pt>
                <c:pt idx="13">
                  <c:v>7.8</c:v>
                </c:pt>
                <c:pt idx="14">
                  <c:v>6.5</c:v>
                </c:pt>
                <c:pt idx="15">
                  <c:v>8.2</c:v>
                </c:pt>
                <c:pt idx="16">
                  <c:v>9</c:v>
                </c:pt>
                <c:pt idx="17">
                  <c:v>7</c:v>
                </c:pt>
                <c:pt idx="18">
                  <c:v>7.4</c:v>
                </c:pt>
                <c:pt idx="19">
                  <c:v>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b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log(Num Raters)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"/>
          <c:min val="3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Rating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2C3E50"/>
                </a:solidFill>
                <a:latin typeface="Arial"/>
              </a:rPr>
              <a:t>Top 10 phim có số lượt đánh giá cao nhất (triệu lượt)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lượt đánh giá (triệu)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Shawshank Redemption</c:v>
                  </c:pt>
                  <c:pt idx="1">
                    <c:v>The Dark Knight</c:v>
                  </c:pt>
                  <c:pt idx="2">
                    <c:v>Inception</c:v>
                  </c:pt>
                  <c:pt idx="3">
                    <c:v>Fight Club</c:v>
                  </c:pt>
                  <c:pt idx="4">
                    <c:v>Pulp Fiction</c:v>
                  </c:pt>
                  <c:pt idx="5">
                    <c:v>Forrest Gump</c:v>
                  </c:pt>
                  <c:pt idx="6">
                    <c:v>The Matrix</c:v>
                  </c:pt>
                  <c:pt idx="7">
                    <c:v>LOTR: Fellowship</c:v>
                  </c:pt>
                  <c:pt idx="8">
                    <c:v>LOTR: Return King</c:v>
                  </c:pt>
                  <c:pt idx="9">
                    <c:v>The Godfather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2.25</c:v>
                </c:pt>
                <c:pt idx="1">
                  <c:v>2.2</c:v>
                </c:pt>
                <c:pt idx="2">
                  <c:v>2</c:v>
                </c:pt>
                <c:pt idx="3">
                  <c:v>1.85</c:v>
                </c:pt>
                <c:pt idx="4">
                  <c:v>1.8</c:v>
                </c:pt>
                <c:pt idx="5">
                  <c:v>1.75</c:v>
                </c:pt>
                <c:pt idx="6">
                  <c:v>1.6</c:v>
                </c:pt>
                <c:pt idx="7">
                  <c:v>1.58</c:v>
                </c:pt>
                <c:pt idx="8">
                  <c:v>1.55</c:v>
                </c:pt>
                <c:pt idx="9">
                  <c:v>1.5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3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So sánh hiệu năng 3 mô hình Hồi quy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0.387</c:v>
                </c:pt>
                <c:pt idx="1">
                  <c:v>0.428</c:v>
                </c:pt>
                <c:pt idx="2">
                  <c:v>0.335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0.522</c:v>
                </c:pt>
                <c:pt idx="1">
                  <c:v>0.639</c:v>
                </c:pt>
                <c:pt idx="2">
                  <c:v>0.469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So sánh hiệu năng 3 mô hình Phân lớp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</c:v>
                </c:pt>
                <c:pt idx="1">
                  <c:v>0.699</c:v>
                </c:pt>
                <c:pt idx="2">
                  <c:v>0.727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0.706</c:v>
                </c:pt>
                <c:pt idx="1">
                  <c:v>0.633</c:v>
                </c:pt>
                <c:pt idx="2">
                  <c:v>0.794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</c:v>
                </c:pt>
                <c:pt idx="1">
                  <c:v>0.344</c:v>
                </c:pt>
                <c:pt idx="2">
                  <c:v>0.3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0.511</c:v>
                </c:pt>
                <c:pt idx="1">
                  <c:v>0.446</c:v>
                </c:pt>
                <c:pt idx="2">
                  <c:v>0.435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2794000"/>
            <a:ext cx="5080000" cy="381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048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ĐÁNH GIÁ PHIM IMDb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482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Bài tiểu luận môn Khoa học dữ liệu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83000" y="6096000"/>
            <a:ext cx="889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Sinh viên: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Vũ Bảo Khánh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Lớp: K58KTP  |  MSSV: K225480106028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GVHD: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TS. Nguyễn Văn Huy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83000" y="787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TRƯỜNG ĐẠI HỌC KỸ THUẬT CÔNG NGHIỆP  | 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MỤC LỤC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841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16000" y="2667000"/>
            <a:ext cx="6540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Giới thiệu đề tài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3175000"/>
            <a:ext cx="654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Lý do chọn đề tài, mục tiêu, đối tượng và phạm vi nghiên cứu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393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8445500" y="1651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9500" y="1841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699500" y="2667000"/>
            <a:ext cx="6540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Cơ sở lý thuyết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99500" y="3175000"/>
            <a:ext cx="654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Khoa học dữ liệu, công cụ Python và các thuật toán học máy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541500" y="393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1886" y="457200"/>
                </a:moveTo>
                <a:lnTo>
                  <a:pt x="97971" y="457200"/>
                </a:lnTo>
                <a:cubicBezTo>
                  <a:pt x="43883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43883" y="0"/>
                  <a:pt x="97971" y="0"/>
                </a:cubicBezTo>
                <a:lnTo>
                  <a:pt x="408214" y="0"/>
                </a:lnTo>
                <a:cubicBezTo>
                  <a:pt x="435258" y="0"/>
                  <a:pt x="457200" y="19199"/>
                  <a:pt x="457200" y="42863"/>
                </a:cubicBezTo>
                <a:lnTo>
                  <a:pt x="457200" y="300038"/>
                </a:lnTo>
                <a:cubicBezTo>
                  <a:pt x="457200" y="318701"/>
                  <a:pt x="443525" y="334595"/>
                  <a:pt x="424543" y="340489"/>
                </a:cubicBezTo>
                <a:lnTo>
                  <a:pt x="424543" y="400050"/>
                </a:lnTo>
                <a:cubicBezTo>
                  <a:pt x="442606" y="400050"/>
                  <a:pt x="457200" y="412819"/>
                  <a:pt x="457200" y="428625"/>
                </a:cubicBezTo>
                <a:cubicBezTo>
                  <a:pt x="457200" y="444431"/>
                  <a:pt x="442606" y="457200"/>
                  <a:pt x="424543" y="457200"/>
                </a:cubicBezTo>
                <a:lnTo>
                  <a:pt x="391886" y="457200"/>
                </a:lnTo>
                <a:close/>
                <a:moveTo>
                  <a:pt x="97971" y="342900"/>
                </a:moveTo>
                <a:cubicBezTo>
                  <a:pt x="79908" y="342900"/>
                  <a:pt x="65314" y="355669"/>
                  <a:pt x="65314" y="371475"/>
                </a:cubicBezTo>
                <a:cubicBezTo>
                  <a:pt x="65314" y="387281"/>
                  <a:pt x="79908" y="400050"/>
                  <a:pt x="97971" y="400050"/>
                </a:cubicBezTo>
                <a:lnTo>
                  <a:pt x="359229" y="400050"/>
                </a:lnTo>
                <a:lnTo>
                  <a:pt x="359229" y="342900"/>
                </a:lnTo>
                <a:lnTo>
                  <a:pt x="97971" y="342900"/>
                </a:lnTo>
                <a:close/>
                <a:moveTo>
                  <a:pt x="130629" y="135731"/>
                </a:moveTo>
                <a:cubicBezTo>
                  <a:pt x="130629" y="147608"/>
                  <a:pt x="141548" y="157163"/>
                  <a:pt x="155121" y="157163"/>
                </a:cubicBezTo>
                <a:lnTo>
                  <a:pt x="334736" y="157163"/>
                </a:lnTo>
                <a:cubicBezTo>
                  <a:pt x="348309" y="157163"/>
                  <a:pt x="359229" y="147608"/>
                  <a:pt x="359229" y="135731"/>
                </a:cubicBezTo>
                <a:cubicBezTo>
                  <a:pt x="359229" y="123855"/>
                  <a:pt x="348309" y="114300"/>
                  <a:pt x="334736" y="114300"/>
                </a:cubicBezTo>
                <a:lnTo>
                  <a:pt x="155121" y="114300"/>
                </a:lnTo>
                <a:cubicBezTo>
                  <a:pt x="141548" y="114300"/>
                  <a:pt x="130629" y="123855"/>
                  <a:pt x="130629" y="135731"/>
                </a:cubicBezTo>
                <a:close/>
                <a:moveTo>
                  <a:pt x="155121" y="200025"/>
                </a:moveTo>
                <a:cubicBezTo>
                  <a:pt x="141548" y="200025"/>
                  <a:pt x="130629" y="209580"/>
                  <a:pt x="130629" y="221456"/>
                </a:cubicBezTo>
                <a:cubicBezTo>
                  <a:pt x="130629" y="233333"/>
                  <a:pt x="141548" y="242888"/>
                  <a:pt x="155121" y="242888"/>
                </a:cubicBezTo>
                <a:lnTo>
                  <a:pt x="334736" y="242888"/>
                </a:lnTo>
                <a:cubicBezTo>
                  <a:pt x="348309" y="242888"/>
                  <a:pt x="359229" y="233333"/>
                  <a:pt x="359229" y="221456"/>
                </a:cubicBezTo>
                <a:cubicBezTo>
                  <a:pt x="359229" y="209580"/>
                  <a:pt x="348309" y="200025"/>
                  <a:pt x="334736" y="200025"/>
                </a:cubicBezTo>
                <a:lnTo>
                  <a:pt x="155121" y="200025"/>
                </a:lnTo>
                <a:close/>
              </a:path>
            </a:pathLst>
          </a:custGeom>
          <a:solidFill>
            <a:srgbClr val="1B4F72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5207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5397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16000" y="6223000"/>
            <a:ext cx="6540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Thiết kế hệ thống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6000" y="6731000"/>
            <a:ext cx="654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Kiến trúc hệ thống, quy trình xử lý dữ liệu và xây dựng mô hình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749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1B4F72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5500" y="5207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99500" y="5397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699500" y="6223000"/>
            <a:ext cx="6540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Thực nghiệm và đánh giá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99500" y="6731000"/>
            <a:ext cx="654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quả phân tích EDA và đánh giá hiệu năng mô hình học máy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541500" y="749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E67E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1 - Giới thiệu đề tài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048500" cy="692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1714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Lý do chọn đề tài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16000" y="2222500"/>
            <a:ext cx="6540500" cy="603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Cách tiếp cận mới về "Thành công"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Định nghĩa thành công dựa trên sự đón nhận của khán giả thay vì doanh thu thương mại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Giá trị thực tiễn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Cung cấp insight dựa trên dữ liệu giúp nhà sản xuất tối ưu chiến lược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Thực nghiệm KHDL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Áp dụng toàn diện quy trình tiền xử lý và hai bài toán Học máy quan trọng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Mục tiêu cụ thể: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Tiền xử lý và chuẩn hóa dữ liệu thô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Phân tích EDA với 5 câu hỏi nghiên cứu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Xây dựng mô hình Hồi quy dự đoán rating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Xây dựng mô hình Phân lớp dự báo success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45500" y="1524000"/>
            <a:ext cx="7048500" cy="692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1714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Phạm vi và ý nghĩa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99500" y="2222500"/>
            <a:ext cx="6540500" cy="603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Đối tượng nghiên cứu: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Đặc trưng định tính/định lượng: năm, thờii lượng, thể loại, phân loại độ tuổi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Mức độ đón nhận: điểm rating và số lượng ngườii đánh giá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Phạm vi dữ liệu: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Tập dữ liệu: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merged_dataset.csv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Nền tảng: IMDb (Internet Movie Database)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Thuật toán: Linear Regression, Decision Tree, Random Forest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Ý nghĩa: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Khoa học: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Kiểm chứng hiệu năng mô hình học máy trên dữ liệu thực tế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Thực tiễn: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Công cụ dự báo giúp tối ưu chiến lược sản xuất phim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26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2 - Cơ sở lý thuyết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0485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1714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Khoa học dữ liệu &amp; CRISP-DM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16000" y="22225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Khoa học dữ liệu là lĩnh vực liên ngành giao thoa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Toán học/Thống kê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Khoa học máy tính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và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Kiến thức chuyên ngành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Quy trình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CRISP-DM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gồm 5 bước lặp tuyến tính: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Hiểu bài toán → 2. Hiểu dữ liệu → 3. Chuẩn bị dữ liệu → 4. Xây dựng mô hình → 5. Đánh giá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45500" y="1524000"/>
            <a:ext cx="70485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1714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Công cụ &amp; Thư viện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99500" y="22225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Jupyter Notebook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Pandas/NumPy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Xử lý &amp; tính toán dữ liệu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Matplotlib/Seaborn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Trực quan hóa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Học máy (train_test_split, mô hình, metrics)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080000"/>
            <a:ext cx="14732000" cy="3492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thuật toán học máy sử dụng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16000" y="58420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Bài toán Hồi quy (Dự đoán Rating)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6000" y="62230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Mô hình cơ sở tuyến tính (OLS)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Tree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Bắt quan hệ phi tuyến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Ensemble, giảm overfitting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2000" y="58420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Bài toán Phân lớp (Dự báo Success)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2000" y="62230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Sigmoid, xác suất nhị phân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Tree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Gini/Entropy phân tách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Majority Voting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01000" y="5842000"/>
            <a:ext cx="25400" cy="184150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7874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i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Chia tập Train/Test 80/20 | Đánh giá Hồi quy: MAE, RMSE, R² | Đánh giá Phân lớp: Accuracy, Precision, Recall, F1, ROC-AUC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890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3 - Thiết kế hệ thống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14732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165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Kiến trúc hệ thống 4 giai đoạn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16000" y="2159000"/>
            <a:ext cx="2921000" cy="76200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2159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Tiếp nhận &amp;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Tiền xử lý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4000" y="2476500"/>
            <a:ext cx="381000" cy="0"/>
          </a:xfrm>
          <a:prstGeom prst="straightConnector1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572000" y="2159000"/>
            <a:ext cx="2921000" cy="76200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159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EDA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(Trực quan hóa)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0" y="2476500"/>
            <a:ext cx="381000" cy="0"/>
          </a:xfrm>
          <a:prstGeom prst="straightConnector1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128000" y="2159000"/>
            <a:ext cx="2921000" cy="76200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2159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Học máy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(Hồi quy + Phân lớp)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76000" y="2476500"/>
            <a:ext cx="381000" cy="0"/>
          </a:xfrm>
          <a:prstGeom prst="straightConnector1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1684000" y="2349500"/>
            <a:ext cx="3556000" cy="3810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11684000" y="2349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Đánh giá &amp; Xuất kết quả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3429000"/>
            <a:ext cx="7048500" cy="501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6000" y="3619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Quy trình xử lý dữ liệu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16000" y="4127500"/>
            <a:ext cx="65405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Thu thập &amp; kiểm tra cấu trúc dữ liệu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Tiền xử lý: loại trùng lặp, xử lý giá trị khuyết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Chuyển đổi: run_length → duration_min (Regex)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 Engineering: One-hot genres, tạo biến success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Chia tập Train/Test (80/20)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Huấn luyện mô hình &amp; Đánh giá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Biến mục tiêu Success: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= 1 nếu rating ≥ 7.5 VÀ num_raters ≥ median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45500" y="3429000"/>
            <a:ext cx="7048500" cy="501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99500" y="3619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tách dữ liệu 2 bài toán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99500" y="4127500"/>
            <a:ext cx="65405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Bài toán 1: Hồi quy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X_reg: year, duration_min, num_raters, num_reviews, genres, movie_rated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y_reg: rating (liên tục 1.0-10.0)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Bài toán 2: Phân lớp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X_class: year, duration_min, genres, movie_rated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i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(Loại bỏ rating, num_raters, num_reviews → tránh Data Leakage)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y_class: success (nhị phân 0/1)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016000" y="4064000"/>
            <a:ext cx="127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318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Thực nghiệm và đánh giá kết quả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5334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quả phân tích dữ liệu khám phá (EDA) và đánh giá hiệu năng các mô hình học máy trên tập dữ liệu IMDb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970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58750" y="158750"/>
                </a:moveTo>
                <a:cubicBezTo>
                  <a:pt x="158750" y="114846"/>
                  <a:pt x="123279" y="79375"/>
                  <a:pt x="79375" y="79375"/>
                </a:cubicBezTo>
                <a:cubicBezTo>
                  <a:pt x="35471" y="79375"/>
                  <a:pt x="0" y="114846"/>
                  <a:pt x="0" y="158750"/>
                </a:cubicBezTo>
                <a:lnTo>
                  <a:pt x="0" y="992188"/>
                </a:lnTo>
                <a:cubicBezTo>
                  <a:pt x="0" y="1101824"/>
                  <a:pt x="88801" y="1190625"/>
                  <a:pt x="198438" y="1190625"/>
                </a:cubicBezTo>
                <a:lnTo>
                  <a:pt x="1190625" y="1190625"/>
                </a:lnTo>
                <a:cubicBezTo>
                  <a:pt x="1234529" y="1190625"/>
                  <a:pt x="1270000" y="1155154"/>
                  <a:pt x="1270000" y="1111250"/>
                </a:cubicBezTo>
                <a:cubicBezTo>
                  <a:pt x="1270000" y="1067346"/>
                  <a:pt x="1234529" y="1031875"/>
                  <a:pt x="1190625" y="1031875"/>
                </a:cubicBezTo>
                <a:lnTo>
                  <a:pt x="198438" y="1031875"/>
                </a:lnTo>
                <a:cubicBezTo>
                  <a:pt x="176609" y="1031875"/>
                  <a:pt x="158750" y="1014016"/>
                  <a:pt x="158750" y="992188"/>
                </a:cubicBezTo>
                <a:lnTo>
                  <a:pt x="158750" y="158750"/>
                </a:lnTo>
                <a:close/>
                <a:moveTo>
                  <a:pt x="1167309" y="373559"/>
                </a:moveTo>
                <a:cubicBezTo>
                  <a:pt x="1198314" y="342553"/>
                  <a:pt x="1198314" y="292199"/>
                  <a:pt x="1167309" y="261193"/>
                </a:cubicBezTo>
                <a:cubicBezTo>
                  <a:pt x="1136303" y="230188"/>
                  <a:pt x="1085949" y="230188"/>
                  <a:pt x="1054943" y="261193"/>
                </a:cubicBezTo>
                <a:lnTo>
                  <a:pt x="793750" y="522635"/>
                </a:lnTo>
                <a:lnTo>
                  <a:pt x="651371" y="380504"/>
                </a:lnTo>
                <a:cubicBezTo>
                  <a:pt x="620365" y="349498"/>
                  <a:pt x="570012" y="349498"/>
                  <a:pt x="539006" y="380504"/>
                </a:cubicBezTo>
                <a:lnTo>
                  <a:pt x="300881" y="618629"/>
                </a:lnTo>
                <a:cubicBezTo>
                  <a:pt x="269875" y="649635"/>
                  <a:pt x="269875" y="699988"/>
                  <a:pt x="300881" y="730994"/>
                </a:cubicBezTo>
                <a:cubicBezTo>
                  <a:pt x="331887" y="762000"/>
                  <a:pt x="382240" y="762000"/>
                  <a:pt x="413246" y="730994"/>
                </a:cubicBezTo>
                <a:lnTo>
                  <a:pt x="595313" y="548928"/>
                </a:lnTo>
                <a:lnTo>
                  <a:pt x="737691" y="691307"/>
                </a:lnTo>
                <a:cubicBezTo>
                  <a:pt x="768697" y="722313"/>
                  <a:pt x="819051" y="722313"/>
                  <a:pt x="850057" y="691307"/>
                </a:cubicBezTo>
                <a:lnTo>
                  <a:pt x="1167557" y="373807"/>
                </a:lnTo>
                <a:close/>
              </a:path>
            </a:pathLst>
          </a:cu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1 - Thể loại phim nào phổ biến nhất?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762000" y="1524000"/>
          <a:ext cx="889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10033000" y="1524000"/>
            <a:ext cx="5461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7000" y="1714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xét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7000" y="2222500"/>
            <a:ext cx="4953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Drama (46.20%):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693 phim, gần 1/2 số phim trong dataset. Là nền tảng cốt lõi, dễ lồng ghép vào mọi thể loại.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Bộ ba thương mại: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Adventure (385), Action (384), Comedy (373) chiếm ~25% mỗi loại - công thức phim bom tấn.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Xu hướng đa thể loại: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Tổng tỷ lệ top 10 vượt 223.67% - khán giả đòi hỏi tác phẩm tích hợp nhiều trải nghiệm.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luận: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Drama làm gốc + Action-Adventure-Comedy làm đòn bẩy thu hút = công thức sản xuất điện ảnh tối ưu.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2 - Điểm đánh giá trung bình theo thể loại?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762000" y="1524000"/>
          <a:ext cx="889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10033000" y="1524000"/>
            <a:ext cx="5461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7000" y="1714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xét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7000" y="2222500"/>
            <a:ext cx="4953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Crime (7.77), Biography (7.69), Drama (7.66)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dẫn đầu - phim có chiều sâu kịch bản được đánh giá cao.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Drama: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Vừa đông số lượng (693 phim) vừa giữ điểm cao (7.66) - chất lượng ổn định.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(7.28):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Sản xuất nhiều nhưng điểm thấp do tập trung kỹ xảo hơn nội dung.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Horror &amp; Music (7.06):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Đứng cuối - phân hóa khán giả mạnh.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luận: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Số lượng sản xuất nhiều không đồng nghĩa với điểm số cao. Phim tâm lý sâu sắc luôn được đánh giá cao hơn phim giải trí thuần túy.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3 - Năm nào có nhiều phim nhất?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762000" y="1524000"/>
          <a:ext cx="889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10033000" y="1524000"/>
            <a:ext cx="5461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7000" y="1714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xét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7000" y="2222500"/>
            <a:ext cx="4953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Năm 2013 (73 phim):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Đỉnh cao sản xuất, giai đoạn hoàng kim của công nghệ kỹ thuật số.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Thập niên 2000-2010: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10 năm đều nằm trong giai đoạn 2004-2016.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Giai đoạn vàng: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Tốc độ tăng trưởng ổn định trước khi Streaming thay đổi thói quen xem phim.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bổ đồng đều: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Dao động 57-73 phim, không có outlier đột biến.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luận: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Dataset mang đậm hơi thở điện ảnh hiện đại (2004-2016), năm 2013 là cột mốc năng suất cao nhất.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4 - Mối quan hệ Rating và Độ phổ biến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762000" y="1524000"/>
          <a:ext cx="889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10033000" y="1524000"/>
            <a:ext cx="5461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7000" y="1714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xét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7000" y="2222500"/>
            <a:ext cx="4953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Pearson r = 0.47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Tương quan thuận trung bình khá.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Spearman ρ = 0.54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Mối liên hệ đồng biến vững chắc.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Hiệu ứng đám đông: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Phim chất lượng cao (7.5-9.0) kẫu truyền miệng mạnh.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Vùng an toàn: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Phim đại chúng hiếm dưới 6.0 điểm.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Phim ít ngườii biết: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Điểm phân tán rộng (3.5-8.0).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luận: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Chất lượng nghệ thuật (rating) và độ lan tỏa (num_raters) có mối quan hệ tương hỗ chặt chẽ.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5 - Phim có số lượng ngườii đánh giá cao nhất?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762000" y="1524000"/>
          <a:ext cx="889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10033000" y="1524000"/>
            <a:ext cx="5461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7000" y="1714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xét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7000" y="2222500"/>
            <a:ext cx="4953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Shawshank Redemption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đứng đầu với 2.25 triệu lượt.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Dark Knight (2.2M)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đỉnh cao siêu anh hùng.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Yếu tố Drama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dày đặc - chiều sâu cảm xúc thúc đẩy tương tác.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Inception, Matrix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khán giả ưa Sci-Fi "hack não".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LOTR series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Franchise giữ chân fan trung thành.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luận: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Sức hút đại chúng tỷ lệ thuận với tính bền vững. Các kiệt tác vẫn thu hút thế hệ khán giả mới sau hàng thập kỷ.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6 - Dự đoán điểm đánh giá phim (Hồi quy)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7620000" cy="2540000"/>
        </p:xfrm>
        <a:graphic>
          <a:graphicData uri="http://schemas.openxmlformats.org/drawingml/2006/table">
            <a:tbl>
              <a:tblPr/>
              <a:tblGrid>
                <a:gridCol w="3048000"/>
                <a:gridCol w="1524000"/>
                <a:gridCol w="1524000"/>
                <a:gridCol w="152400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Thuật toán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RMSE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R² Score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Linear Regression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0.387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0.522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0.409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Decision Tree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0.428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0.639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0.115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Random Forest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67E2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0.335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67E2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0.469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0.524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762000" y="4508500"/>
          <a:ext cx="7620000" cy="292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8890000" y="1651000"/>
            <a:ext cx="6604000" cy="577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0" y="1841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kết quả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144000" y="2349500"/>
            <a:ext cx="6096000" cy="488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tối ưu nhất: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MAE = 0.335, RMSE = 0.469, R² = 0.524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Sai số trung bình chỉ ~0.33 điểm trên thang 10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Giải thích 52.4% sự biến thiên điểm số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 (Baseline):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MAE = 0.387, R² = 0.409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Hiệu năng ổn định, dễ giải thích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Tree kém nhất: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R² = 0.115, dễ overfitting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Khả năng tổng quát hóa kém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7 - Phân loại thành công/thất bại (Phân lớp)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8636000" cy="2540000"/>
        </p:xfrm>
        <a:graphic>
          <a:graphicData uri="http://schemas.openxmlformats.org/drawingml/2006/table">
            <a:tbl>
              <a:tblPr/>
              <a:tblGrid>
                <a:gridCol w="2763520"/>
                <a:gridCol w="1468120"/>
                <a:gridCol w="1468120"/>
                <a:gridCol w="1468120"/>
                <a:gridCol w="146812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Thuật toán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Accuracy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Recall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F1-score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Logistic Reg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0.730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0.706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67E2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0.511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Decision Tree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0.699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0.633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0.446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Random Forest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0.727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67E2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3E5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0.435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762000" y="4508500"/>
          <a:ext cx="8636000" cy="292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9906000" y="1651000"/>
            <a:ext cx="5588000" cy="577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160000" y="184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kết quả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160000" y="2349500"/>
            <a:ext cx="5080000" cy="488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Precision = 0.794 (cao nhất)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8/10 phim dự báo thành công đều đúng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toàn nhất cho nhà đầu tư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Accuracy = 0.730, F1 = 0.511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Cân bằng nhất, Recall tốt nhất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Tốt cho bắt xu hướng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Hạn chế chung: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Recall thấp (0.30-0.40) do dữ liệu mất cân bằng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Giới thiệu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Cơ sở lý thuyết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Thiết kế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Thực nghiệm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954000" y="457200"/>
            <a:ext cx="2540000" cy="50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Đánh giá chung &amp; Định hướng phát triển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0485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17145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Ưu điểm đạt được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6000" y="2159000"/>
            <a:ext cx="6540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Chống rò rỉ dữ liệu tốt (loại num_raters/num_reviews ở phân lớp)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MAE hồi quy thấp: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0.335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Precision phân lớp cao: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0.794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Làm rõ quy luật: Drama 46.20%, rating-quality correlation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45500" y="1524000"/>
            <a:ext cx="70485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17145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Hạn chế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99500" y="2159000"/>
            <a:ext cx="6540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Chỉ số Recall chưa cao (0.30-0.40) do dữ liệu mất cân bằng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Thiếu đặc trưng phi cấu trúc: đạo diễn, diễn viên, ngân sách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Biến success định nghĩa đơn giản (rating + num_raters)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Chưa xử lý mất cân bằng dữ liệu (SMOTE, class_weight)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14732000" cy="355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Định hướng phát triển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16000" y="5715000"/>
            <a:ext cx="1422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Xử lý mất cân bằng dữ liệu: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Áp dụng SMOTE, điều chỉnh class_weight để cải thiện Recall cho bài toán phân lớp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Bổ sung dữ liệu văn bản: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Tích hợp Sentiment Analysis từ reviews khán giả bằng NLP (Học sâu)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Làm giàu tài nguyên: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Thu thập thêm dữ liệu chi phí sản xuất, doanh thu phòng vé, uy tín đạo diễn/diễn viên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Thử nghiệm mô hình nâng cao: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XGBoost, LightGBM, Neural Networks để cải thiện độ chính xác dự đoán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14/15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2286000"/>
            <a:ext cx="5080000" cy="381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54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LUẬN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78000" y="3556000"/>
            <a:ext cx="1270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Đề tài đã hoàn thành quy trình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Khoa học dữ liệu End-to-End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Tiền xử lý dữ liệu thô → EDA trực quan hóa → Xây dựng mô hình Học máy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Hồi quy:</a:t>
            </a:r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Forest Regressor - MAE </a:t>
            </a:r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0.335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lớp:</a:t>
            </a:r>
            <a:pPr algn="ctr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Forest Classifier - Precision </a:t>
            </a:r>
            <a:pPr algn="ctr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0.794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kết quả cung cấp công cụ dự báo giá trị cho ngành điện ảnh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8000" y="647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Xin chân thành cảm ơn!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83000" y="736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Sinh viên: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Vũ Bảo Khánh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Lớp: K58KTP  |  MSSV: K225480106028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GVHD: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TS. Nguyễn Văn Huy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Trường ĐH Kỹ thuật Công nghiệp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Đánh Giá Phim IMDb</dc:title>
  <dc:subject>Phân Tích Đánh Giá Phim IMDb</dc:subject>
  <dc:creator>Kimi</dc:creator>
  <cp:lastModifiedBy>Kimi</cp:lastModifiedBy>
  <cp:revision>1</cp:revision>
  <dcterms:created xsi:type="dcterms:W3CDTF">2026-06-20T19:05:26Z</dcterms:created>
  <dcterms:modified xsi:type="dcterms:W3CDTF">2026-06-20T19:05:26Z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{"Label":"Phân Tích Đánh Giá Phim IMDb","ContentProducer":"001191110108MACG2KBH8F10000","ProduceID":"19ee6508-2222-8720-8000-0000c09d3e65","ReservedCode1":"","ContentPropagator":"001191110108MACG2KBH8F20000","PropagateID":"19ee64c7-8932-8720-8000-09aec132f33e","ReservedCode2":""}</vt:lpwstr>
  </property>
</Properties>
</file>